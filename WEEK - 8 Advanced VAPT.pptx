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TT Firs Neue" panose="020B0604020202020204" charset="0"/>
      <p:regular r:id="rId19"/>
    </p:embeddedFont>
    <p:embeddedFont>
      <p:font typeface="TT Firs Neue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5715" y="2115128"/>
            <a:ext cx="6986197" cy="6986197"/>
          </a:xfrm>
          <a:custGeom>
            <a:avLst/>
            <a:gdLst/>
            <a:ahLst/>
            <a:cxnLst/>
            <a:rect l="l" t="t" r="r" b="b"/>
            <a:pathLst>
              <a:path w="6986197" h="6986197">
                <a:moveTo>
                  <a:pt x="0" y="0"/>
                </a:moveTo>
                <a:lnTo>
                  <a:pt x="6986196" y="0"/>
                </a:lnTo>
                <a:lnTo>
                  <a:pt x="6986196" y="6986196"/>
                </a:lnTo>
                <a:lnTo>
                  <a:pt x="0" y="6986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027204"/>
            <a:ext cx="6227021" cy="5905205"/>
          </a:xfrm>
          <a:custGeom>
            <a:avLst/>
            <a:gdLst/>
            <a:ahLst/>
            <a:cxnLst/>
            <a:rect l="l" t="t" r="r" b="b"/>
            <a:pathLst>
              <a:path w="6227021" h="5905205">
                <a:moveTo>
                  <a:pt x="0" y="0"/>
                </a:moveTo>
                <a:lnTo>
                  <a:pt x="6227021" y="0"/>
                </a:lnTo>
                <a:lnTo>
                  <a:pt x="6227021" y="5905205"/>
                </a:lnTo>
                <a:lnTo>
                  <a:pt x="0" y="590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591320" y="8938556"/>
            <a:ext cx="6572166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32856" y="4777903"/>
            <a:ext cx="9605730" cy="112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Advanced VAPT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32856" y="3548726"/>
            <a:ext cx="6789360" cy="112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WEEK 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05238" y="6029163"/>
            <a:ext cx="6572165" cy="91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663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Name : B SAI AMULYA GOUD</a:t>
            </a:r>
          </a:p>
          <a:p>
            <a:pPr algn="l">
              <a:lnSpc>
                <a:spcPts val="3728"/>
              </a:lnSpc>
            </a:pPr>
            <a:r>
              <a:rPr lang="en-US" sz="2663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SIN : DG/SEPTEMBER/CYBER/179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76200" y="127089"/>
            <a:ext cx="5555456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3645" y="669764"/>
            <a:ext cx="7088850" cy="807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611095" y="9599908"/>
            <a:ext cx="4676905" cy="687092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228600" y="224863"/>
            <a:ext cx="4968478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1714500"/>
            <a:ext cx="15697200" cy="8370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 Surface Mapping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Identify login forms, input fields, APIs, endpoints, and application workflows.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Vulnerability Testing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Investigate business logic flaws, parameter tampering, IDOR, and session management weaknesses.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 Chain Creation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Combine verified vulnerabilities into a step-by-step attack scenario to demonstrate potential security impact.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Burp Suite Exploitation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Use Proxy and Repeater to intercept, modify, and replay HTTP requests and analyze server responses.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Proof of Concept (POC)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Collect screenshots and request-response evidence to demonstrate each confirmed vulnerability and attack-chain step.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and Impact Analysis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Evaluate potential data exposure, account compromise, privilege escalation, and business impact.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Remediation Strategy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Recommend security fixes for individual vulnerabilities and the complete attack chain.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700" b="1" dirty="0">
                <a:solidFill>
                  <a:srgbClr val="0111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Professional Reporting</a:t>
            </a:r>
            <a:r>
              <a:rPr lang="en-US" sz="2700" dirty="0">
                <a:solidFill>
                  <a:srgbClr val="011142"/>
                </a:solidFill>
                <a:latin typeface="Canva Sans"/>
                <a:ea typeface="Canva Sans"/>
                <a:cs typeface="Canva Sans"/>
                <a:sym typeface="Canva Sans"/>
              </a:rPr>
              <a:t>: Prepare a detailed VAPT report and presentation documenting the methodology, findings, evidence, impact,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789919" y="537527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5418" y="537527"/>
            <a:ext cx="874198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 Surface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F7C784-E8B6-0208-5575-94D5297E6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094355"/>
              </p:ext>
            </p:extLst>
          </p:nvPr>
        </p:nvGraphicFramePr>
        <p:xfrm>
          <a:off x="1752600" y="2095500"/>
          <a:ext cx="10515600" cy="518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28052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81710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81267488"/>
                    </a:ext>
                  </a:extLst>
                </a:gridCol>
              </a:tblGrid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Observed endpoint / path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 method or input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Purpose / notes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3677653372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/login.php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GET/POST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Login interface.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267763897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/security.php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GET/POST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DVWA security configuration.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1493328244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/vulnerabilities/sqli/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POST confirmed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id and Submit parameters captured.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3888952936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/vulnerabilities/sqli_blind/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GET/POST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Separate blind SQLi module; not the same endpoint.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1375119443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/vulnerabilities/brute/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Path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Login-testing module; request details pending.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816553518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/vulnerabilities/csrf/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CSRF module; testing not documented yet.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3672209235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/vulnerabilities/fi/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 with page parameter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File Inclusion input surface only.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1350011280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/vulnerabilities/weak_id/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Path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Token behaviour not yet verified.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1362302083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/vulnerabilities/xss_r/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GET with name parameter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Reflected XSS module; Week 8 result not documented here.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525363903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/vulnerabilities/xss_s/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Path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Stored XSS module; Week 8 result not documented here.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66" marR="3766" marT="3766" marB="0" anchor="b"/>
                </a:tc>
                <a:extLst>
                  <a:ext uri="{0D108BD9-81ED-4DB2-BD59-A6C34878D82A}">
                    <a16:rowId xmlns:a16="http://schemas.microsoft.com/office/drawing/2014/main" val="9715272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144" y="278555"/>
            <a:ext cx="8425056" cy="4430753"/>
          </a:xfrm>
          <a:custGeom>
            <a:avLst/>
            <a:gdLst/>
            <a:ahLst/>
            <a:cxnLst/>
            <a:rect l="l" t="t" r="r" b="b"/>
            <a:pathLst>
              <a:path w="8729856" h="4637736">
                <a:moveTo>
                  <a:pt x="0" y="0"/>
                </a:moveTo>
                <a:lnTo>
                  <a:pt x="8729856" y="0"/>
                </a:lnTo>
                <a:lnTo>
                  <a:pt x="8729856" y="4637736"/>
                </a:lnTo>
                <a:lnTo>
                  <a:pt x="0" y="4637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28093" y="278555"/>
            <a:ext cx="7875292" cy="4187467"/>
          </a:xfrm>
          <a:custGeom>
            <a:avLst/>
            <a:gdLst/>
            <a:ahLst/>
            <a:cxnLst/>
            <a:rect l="l" t="t" r="r" b="b"/>
            <a:pathLst>
              <a:path w="7875292" h="4187467">
                <a:moveTo>
                  <a:pt x="0" y="0"/>
                </a:moveTo>
                <a:lnTo>
                  <a:pt x="7875292" y="0"/>
                </a:lnTo>
                <a:lnTo>
                  <a:pt x="7875292" y="4187467"/>
                </a:lnTo>
                <a:lnTo>
                  <a:pt x="0" y="4187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19800" y="4840894"/>
            <a:ext cx="8534400" cy="4430753"/>
          </a:xfrm>
          <a:custGeom>
            <a:avLst/>
            <a:gdLst/>
            <a:ahLst/>
            <a:cxnLst/>
            <a:rect l="l" t="t" r="r" b="b"/>
            <a:pathLst>
              <a:path w="8921816" h="4743926">
                <a:moveTo>
                  <a:pt x="0" y="0"/>
                </a:moveTo>
                <a:lnTo>
                  <a:pt x="8921816" y="0"/>
                </a:lnTo>
                <a:lnTo>
                  <a:pt x="8921816" y="4743926"/>
                </a:lnTo>
                <a:lnTo>
                  <a:pt x="0" y="4743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0608" y="323394"/>
            <a:ext cx="1417319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Injection Endpoint: Request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B70C14-D0D3-45E8-4C38-1C159B21B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225884"/>
              </p:ext>
            </p:extLst>
          </p:nvPr>
        </p:nvGraphicFramePr>
        <p:xfrm>
          <a:off x="1905000" y="2095500"/>
          <a:ext cx="11049000" cy="53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500">
                  <a:extLst>
                    <a:ext uri="{9D8B030D-6E8A-4147-A177-3AD203B41FA5}">
                      <a16:colId xmlns:a16="http://schemas.microsoft.com/office/drawing/2014/main" val="2771277334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949831525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Property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 value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426548775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HTTP method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POST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378888847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Endpoint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/vulnerabilities/sqli/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915600746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Request body parameters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id=1; Submit=Submit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373132874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Response status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200 OK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554842128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Interpretation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Confirms request processing; does not alone prove SQL injection.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36" marR="5536" marT="5536" marB="0" anchor="b"/>
                </a:tc>
                <a:extLst>
                  <a:ext uri="{0D108BD9-81ED-4DB2-BD59-A6C34878D82A}">
                    <a16:rowId xmlns:a16="http://schemas.microsoft.com/office/drawing/2014/main" val="2921445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5680" y="516676"/>
            <a:ext cx="9601237" cy="4776996"/>
          </a:xfrm>
          <a:custGeom>
            <a:avLst/>
            <a:gdLst/>
            <a:ahLst/>
            <a:cxnLst/>
            <a:rect l="l" t="t" r="r" b="b"/>
            <a:pathLst>
              <a:path w="9601237" h="4776996">
                <a:moveTo>
                  <a:pt x="0" y="0"/>
                </a:moveTo>
                <a:lnTo>
                  <a:pt x="9601237" y="0"/>
                </a:lnTo>
                <a:lnTo>
                  <a:pt x="9601237" y="4776995"/>
                </a:lnTo>
                <a:lnTo>
                  <a:pt x="0" y="4776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435" b="-343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23044" y="5380175"/>
            <a:ext cx="8435556" cy="4485371"/>
          </a:xfrm>
          <a:custGeom>
            <a:avLst/>
            <a:gdLst/>
            <a:ahLst/>
            <a:cxnLst/>
            <a:rect l="l" t="t" r="r" b="b"/>
            <a:pathLst>
              <a:path w="8435556" h="4485371">
                <a:moveTo>
                  <a:pt x="0" y="0"/>
                </a:moveTo>
                <a:lnTo>
                  <a:pt x="8435556" y="0"/>
                </a:lnTo>
                <a:lnTo>
                  <a:pt x="8435556" y="4485371"/>
                </a:lnTo>
                <a:lnTo>
                  <a:pt x="0" y="44853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95972"/>
            <a:ext cx="11969366" cy="6360533"/>
          </a:xfrm>
          <a:custGeom>
            <a:avLst/>
            <a:gdLst/>
            <a:ahLst/>
            <a:cxnLst/>
            <a:rect l="l" t="t" r="r" b="b"/>
            <a:pathLst>
              <a:path w="11969366" h="6360533">
                <a:moveTo>
                  <a:pt x="0" y="0"/>
                </a:moveTo>
                <a:lnTo>
                  <a:pt x="11969366" y="0"/>
                </a:lnTo>
                <a:lnTo>
                  <a:pt x="11969366" y="6360533"/>
                </a:lnTo>
                <a:lnTo>
                  <a:pt x="0" y="6360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170" y="141605"/>
            <a:ext cx="957403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Additional Module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412228" y="1165975"/>
            <a:ext cx="361697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Brute 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9015" y="2261481"/>
            <a:ext cx="12799273" cy="6805656"/>
          </a:xfrm>
          <a:custGeom>
            <a:avLst/>
            <a:gdLst/>
            <a:ahLst/>
            <a:cxnLst/>
            <a:rect l="l" t="t" r="r" b="b"/>
            <a:pathLst>
              <a:path w="12799273" h="6805656">
                <a:moveTo>
                  <a:pt x="0" y="0"/>
                </a:moveTo>
                <a:lnTo>
                  <a:pt x="12799273" y="0"/>
                </a:lnTo>
                <a:lnTo>
                  <a:pt x="12799273" y="6805655"/>
                </a:lnTo>
                <a:lnTo>
                  <a:pt x="0" y="6805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6446" y="705167"/>
            <a:ext cx="4575153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Weak Session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4827" y="2028742"/>
            <a:ext cx="13390680" cy="7120120"/>
          </a:xfrm>
          <a:custGeom>
            <a:avLst/>
            <a:gdLst/>
            <a:ahLst/>
            <a:cxnLst/>
            <a:rect l="l" t="t" r="r" b="b"/>
            <a:pathLst>
              <a:path w="13390680" h="7120120">
                <a:moveTo>
                  <a:pt x="0" y="0"/>
                </a:moveTo>
                <a:lnTo>
                  <a:pt x="13390680" y="0"/>
                </a:lnTo>
                <a:lnTo>
                  <a:pt x="13390680" y="7120120"/>
                </a:lnTo>
                <a:lnTo>
                  <a:pt x="0" y="712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84827" y="705167"/>
            <a:ext cx="28384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File Inclusion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03302" y="232952"/>
            <a:ext cx="9355098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Logic-Based Testing and Attack Chain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13D39F-569D-6F3D-BD4A-213DB610F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134826"/>
              </p:ext>
            </p:extLst>
          </p:nvPr>
        </p:nvGraphicFramePr>
        <p:xfrm>
          <a:off x="1981200" y="2303194"/>
          <a:ext cx="10972800" cy="4364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7893692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83196039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672995201"/>
                    </a:ext>
                  </a:extLst>
                </a:gridCol>
              </a:tblGrid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Stage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Current status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Evidence needed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681310693"/>
                  </a:ext>
                </a:extLst>
              </a:tr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Identify reachable modules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Site map screenshot.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2311165274"/>
                  </a:ext>
                </a:extLst>
              </a:tr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Inspect SQLi request structure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HTTP history showing POST path and parameters.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191697565"/>
                  </a:ext>
                </a:extLst>
              </a:tr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Verify a security weakness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Controlled request/response comparison with repeatable result.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2131091478"/>
                  </a:ext>
                </a:extLst>
              </a:tr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Link findings into a chain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Evidence one verified issue enables the next.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1048411944"/>
                  </a:ext>
                </a:extLst>
              </a:tr>
              <a:tr h="7273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Demonstrate impact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Observed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Safe, local-lab proof of the claimed impact.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43" marR="4743" marT="4743" marB="0" anchor="b"/>
                </a:tc>
                <a:extLst>
                  <a:ext uri="{0D108BD9-81ED-4DB2-BD59-A6C34878D82A}">
                    <a16:rowId xmlns:a16="http://schemas.microsoft.com/office/drawing/2014/main" val="11484442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8418" y="446121"/>
            <a:ext cx="8834275" cy="4697379"/>
          </a:xfrm>
          <a:custGeom>
            <a:avLst/>
            <a:gdLst/>
            <a:ahLst/>
            <a:cxnLst/>
            <a:rect l="l" t="t" r="r" b="b"/>
            <a:pathLst>
              <a:path w="8834275" h="4697379">
                <a:moveTo>
                  <a:pt x="0" y="0"/>
                </a:moveTo>
                <a:lnTo>
                  <a:pt x="8834275" y="0"/>
                </a:lnTo>
                <a:lnTo>
                  <a:pt x="8834275" y="4697379"/>
                </a:lnTo>
                <a:lnTo>
                  <a:pt x="0" y="469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91405" y="446121"/>
            <a:ext cx="7997085" cy="4252227"/>
          </a:xfrm>
          <a:custGeom>
            <a:avLst/>
            <a:gdLst/>
            <a:ahLst/>
            <a:cxnLst/>
            <a:rect l="l" t="t" r="r" b="b"/>
            <a:pathLst>
              <a:path w="7997085" h="4252227">
                <a:moveTo>
                  <a:pt x="0" y="0"/>
                </a:moveTo>
                <a:lnTo>
                  <a:pt x="7997086" y="0"/>
                </a:lnTo>
                <a:lnTo>
                  <a:pt x="7997086" y="4252227"/>
                </a:lnTo>
                <a:lnTo>
                  <a:pt x="0" y="4252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8418" y="5373289"/>
            <a:ext cx="8834275" cy="4697379"/>
          </a:xfrm>
          <a:custGeom>
            <a:avLst/>
            <a:gdLst/>
            <a:ahLst/>
            <a:cxnLst/>
            <a:rect l="l" t="t" r="r" b="b"/>
            <a:pathLst>
              <a:path w="8834275" h="4697379">
                <a:moveTo>
                  <a:pt x="0" y="0"/>
                </a:moveTo>
                <a:lnTo>
                  <a:pt x="8834275" y="0"/>
                </a:lnTo>
                <a:lnTo>
                  <a:pt x="8834275" y="4697379"/>
                </a:lnTo>
                <a:lnTo>
                  <a:pt x="0" y="4697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7366" y="323394"/>
            <a:ext cx="573343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B08C73-C236-0FC1-5A72-41B09FE50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66653"/>
              </p:ext>
            </p:extLst>
          </p:nvPr>
        </p:nvGraphicFramePr>
        <p:xfrm>
          <a:off x="2286000" y="2095500"/>
          <a:ext cx="107442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362362008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16756586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504867463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19672655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Finding / observation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Status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Potential concern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Recommended control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extLst>
                  <a:ext uri="{0D108BD9-81ED-4DB2-BD59-A6C34878D82A}">
                    <a16:rowId xmlns:a16="http://schemas.microsoft.com/office/drawing/2014/main" val="675928707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DVWA endpoints mapped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Confirmed observation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Unnecessary or poorly protected routes expand attack surface.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Remove unused routes; apply authentication and authorization.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extLst>
                  <a:ext uri="{0D108BD9-81ED-4DB2-BD59-A6C34878D82A}">
                    <a16:rowId xmlns:a16="http://schemas.microsoft.com/office/drawing/2014/main" val="328840047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SQLi POST request captured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Request confirmed; vulnerability not yet proven by this request alone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If unsafe SQL is verified, database data could be exposed or changed.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 prepared statements and server-side type validation.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extLst>
                  <a:ext uri="{0D108BD9-81ED-4DB2-BD59-A6C34878D82A}">
                    <a16:rowId xmlns:a16="http://schemas.microsoft.com/office/drawing/2014/main" val="409610561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File Inclusion page parameter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Attack surface identified only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Weak path validation may allow unintended file inclusion.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 a strict server-side allowlist.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extLst>
                  <a:ext uri="{0D108BD9-81ED-4DB2-BD59-A6C34878D82A}">
                    <a16:rowId xmlns:a16="http://schemas.microsoft.com/office/drawing/2014/main" val="30096835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Weak Session IDs path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Module identified; token weakness not verified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Predictable tokens may risk unauthorized access if confirmed.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Use cryptographically secure random session identifiers.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05" marR="4505" marT="4505" marB="0" anchor="b"/>
                </a:tc>
                <a:extLst>
                  <a:ext uri="{0D108BD9-81ED-4DB2-BD59-A6C34878D82A}">
                    <a16:rowId xmlns:a16="http://schemas.microsoft.com/office/drawing/2014/main" val="14218009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175" y="649240"/>
            <a:ext cx="17773650" cy="83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Recommended Security Controls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· </a:t>
            </a: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 parameterized prepared statements for database queries and validate numeric identifiers server-side.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Generate session identifiers with a cryptographically secure random source and regenerate them after authentication or privilege changes.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Use strict server-side allowlists for file inclusion; do not derive arbitrary file paths directly from request parameters.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Apply authorization checks to sensitive operations and object references.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Use server-side CSRF token validation for state-changing actions.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Encode untrusted output according to context to reduce cross-site scripting risk.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Return generic user-facing errors and store detailed diagnostics in protected logs.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· Keep screenshots, request/response evidence, and conclusions consistent; distinguish confirmed findings from untested possibilities.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91333" y="537527"/>
            <a:ext cx="546666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BBC600-BFBE-96ED-2BEA-E0EBB25FB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302637"/>
              </p:ext>
            </p:extLst>
          </p:nvPr>
        </p:nvGraphicFramePr>
        <p:xfrm>
          <a:off x="2286000" y="2476500"/>
          <a:ext cx="10515600" cy="5257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686453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948916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60078455"/>
                    </a:ext>
                  </a:extLst>
                </a:gridCol>
              </a:tblGrid>
              <a:tr h="4776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Photo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Where to capture it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Insert after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607193456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Target → Site map; localhost expanded; show all items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2015152481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Proxy → HTTP history showing DVWA requests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1829165094"/>
                  </a:ext>
                </a:extLst>
              </a:tr>
              <a:tr h="8411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HTTP history; POST /vulnerabilities/sqli/; request body visible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538248828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Repeater baseline request/response, after performing it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276872712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Brute Force request in HTTP history, after capturing one test login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6.1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2163825918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Weak Session IDs page / your own observation, if tested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6.2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632674907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File Inclusion page with normal page parameter, if captured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Section 6.3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802363927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Evidence for any later verified attack-chain step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Section 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36" marR="4436" marT="4436" marB="0" anchor="b"/>
                </a:tc>
                <a:extLst>
                  <a:ext uri="{0D108BD9-81ED-4DB2-BD59-A6C34878D82A}">
                    <a16:rowId xmlns:a16="http://schemas.microsoft.com/office/drawing/2014/main" val="1083514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601700" y="8726285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607344" y="330360"/>
            <a:ext cx="7315200" cy="1064029"/>
          </a:xfrm>
          <a:custGeom>
            <a:avLst/>
            <a:gdLst/>
            <a:ahLst/>
            <a:cxnLst/>
            <a:rect l="l" t="t" r="r" b="b"/>
            <a:pathLst>
              <a:path w="7315200" h="1064029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07516" y="4298247"/>
            <a:ext cx="6572165" cy="112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1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830</Words>
  <Application>Microsoft Office PowerPoint</Application>
  <PresentationFormat>Custom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Canva Sans</vt:lpstr>
      <vt:lpstr>TT Firs Neue</vt:lpstr>
      <vt:lpstr>Canva Sans Bold</vt:lpstr>
      <vt:lpstr>Calibri</vt:lpstr>
      <vt:lpstr>Arial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</dc:title>
  <cp:lastModifiedBy>Sai Amulya</cp:lastModifiedBy>
  <cp:revision>2</cp:revision>
  <dcterms:created xsi:type="dcterms:W3CDTF">2006-08-16T00:00:00Z</dcterms:created>
  <dcterms:modified xsi:type="dcterms:W3CDTF">2026-10-28T05:59:55Z</dcterms:modified>
  <dc:identifier>DAHYo_QM8oI</dc:identifier>
</cp:coreProperties>
</file>